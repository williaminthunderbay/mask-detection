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95" r:id="rId3"/>
    <p:sldId id="271" r:id="rId4"/>
    <p:sldId id="287" r:id="rId5"/>
    <p:sldId id="281" r:id="rId6"/>
    <p:sldId id="280" r:id="rId7"/>
    <p:sldId id="284" r:id="rId8"/>
    <p:sldId id="282" r:id="rId9"/>
    <p:sldId id="297" r:id="rId10"/>
    <p:sldId id="302" r:id="rId11"/>
    <p:sldId id="285" r:id="rId12"/>
    <p:sldId id="288" r:id="rId13"/>
    <p:sldId id="298" r:id="rId14"/>
    <p:sldId id="300" r:id="rId15"/>
    <p:sldId id="289" r:id="rId16"/>
    <p:sldId id="299" r:id="rId17"/>
    <p:sldId id="290" r:id="rId18"/>
    <p:sldId id="286" r:id="rId19"/>
    <p:sldId id="291" r:id="rId20"/>
    <p:sldId id="292" r:id="rId21"/>
    <p:sldId id="301" r:id="rId22"/>
    <p:sldId id="303" r:id="rId23"/>
    <p:sldId id="304" r:id="rId24"/>
    <p:sldId id="294" r:id="rId25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" id="{E75E278A-FF0E-49A4-B170-79828D63BBAD}">
          <p14:sldIdLst>
            <p14:sldId id="256"/>
          </p14:sldIdLst>
        </p14:section>
        <p14:section name="设计、平滑、添加注释、协作、操作说明搜索" id="{B9B51309-D148-4332-87C2-07BE32FBCA3B}">
          <p14:sldIdLst>
            <p14:sldId id="295"/>
            <p14:sldId id="271"/>
            <p14:sldId id="287"/>
            <p14:sldId id="281"/>
            <p14:sldId id="280"/>
            <p14:sldId id="284"/>
            <p14:sldId id="282"/>
            <p14:sldId id="297"/>
            <p14:sldId id="302"/>
            <p14:sldId id="285"/>
            <p14:sldId id="288"/>
            <p14:sldId id="298"/>
            <p14:sldId id="300"/>
            <p14:sldId id="289"/>
            <p14:sldId id="299"/>
            <p14:sldId id="290"/>
            <p14:sldId id="286"/>
            <p14:sldId id="291"/>
            <p14:sldId id="292"/>
            <p14:sldId id="301"/>
            <p14:sldId id="303"/>
            <p14:sldId id="304"/>
            <p14:sldId id="294"/>
          </p14:sldIdLst>
        </p14:section>
        <p14:section name="了解详细信息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2589" autoAdjust="0"/>
  </p:normalViewPr>
  <p:slideViewPr>
    <p:cSldViewPr snapToGrid="0">
      <p:cViewPr varScale="1">
        <p:scale>
          <a:sx n="69" d="100"/>
          <a:sy n="69" d="100"/>
        </p:scale>
        <p:origin x="123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61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A071E02-3F1A-4B0B-8EE9-4F1B741D960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2024/11/15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1DCBD32-5E35-4514-9815-F3DDD3668777}" type="datetime1">
              <a:rPr lang="zh-CN" altLang="en-US" smtClean="0"/>
              <a:t>2024/11/15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40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113F-672B-930B-0564-4AE8CBBB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31688D-C9FC-5C07-AF01-399D3C94A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CB763F-9B9F-E9D0-B70D-C5AC724B5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6C7ED5-0309-A67E-A6BA-2EFFDCE6F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933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3974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677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E9E7-6779-8611-DA1F-8E6B171C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62278A-FBD3-939F-01F4-2B1F632E0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2AA521-7114-CFC4-E038-1F7390F3C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5D99F-FBAC-08AE-6E8A-BD8E1DB7E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1846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22AF-7861-7490-3426-805AAC10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15F2A1-D3AF-9DC6-F868-38D5E3C46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57DC7E-5B19-9017-2A82-AD4F79C3A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49EA91FF-CBFF-CC5D-148A-1C42A265C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148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6816-6056-5722-1166-563A3544D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E4DE69-7B38-27F1-28A0-C2E9116C6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CC6F15-28BB-AC72-7899-356910973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A9297D22-9E66-1BB0-FA02-20F74724C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137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66A9-F4AC-5B0F-EE1D-D70A81A7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86D38E-E7C4-BFDB-E182-F6BD5DC8C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907621-13BB-DA4C-3B37-2144237B4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F07CD8E5-F26F-B7BD-5018-50A0C3E5B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962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02D5-565A-F7AE-A52E-1E08CB3EF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2505F3-6A3C-342B-8FC2-49D671D1F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2BF090-E141-B5A9-45BF-3C6678FB4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8E67F9-51B8-4AC5-4D9B-6A50DC103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183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19696-93E9-9C69-5E0F-7FCB7E3E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A56913-35B7-FA7C-A2F0-E1E8741D9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A1F019-D2F9-39AB-2397-5610DD96A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B92A16-62C5-2A1B-5BEB-490BC9694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4038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6A58-A68F-C621-FD82-3549FEE6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09F71B-B317-E100-84CB-0E1AB80BC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0F3715-C388-3A69-A573-095675814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FD27C3-8FCE-C9A8-3BCD-FE55DB2CD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5931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73A4A-6599-C37F-D5B4-0D02C7DE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152B1E-91C9-2BBC-7B38-F0E664A9E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E7FA9B-40EA-8A7D-4413-D705E7EBD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6BB7F-6CAD-A9E0-7B48-5EACE4240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3440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8E9C-5E93-450B-623D-CC507BAF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8815AB-5979-6ECD-47A3-21297BB23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726EBE-C5FE-A36C-D1E2-8FBC2AE9F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10B8C4-6015-09E9-0273-7B01A991E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4528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01366-D463-D2AA-6275-133D78CA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3089F0-6782-FC0A-D4CB-329B0EEED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24C36-A586-04F9-1154-E8008993C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2B3FF7-FE7A-9913-B0BC-1F35A9FDF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2708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0202-AE69-0722-82B5-237B06BA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41F7B1-4D87-10F6-DBB1-34A623DFB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8B607B-C3A9-9ACF-C4EE-F16AF0DCB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64DBD-D430-36F9-E2B7-DC725BCD9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3101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482B-9CEB-36ED-02A4-A82D6EA6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D9A25C-BA2D-310F-F0D5-120B958C5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17B257-7875-308B-FF43-35374E1BE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EFEFB-BE15-F7A9-48DA-896245AC7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6507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4B48-5729-30A5-8A0A-22EB3549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CE40CE-6B84-8CB7-68FE-0F0168398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010407-8702-471A-CCFA-3D3954587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36B0B4-5091-DDA5-EBD4-ED18A8F59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5360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4949-2D24-E91D-089B-51DA3BEE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980F86-9FB4-5371-0544-E2AF97E17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596C26-C76E-A178-CC28-B654F4741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34868CB-5020-2AEC-1C1C-62F0C820F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7528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2" name="直接连接符​​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0AFDC1-AB40-4941-83E0-44D5ED544864}" type="datetime1">
              <a:rPr lang="zh-CN" altLang="en-US" noProof="0" smtClean="0"/>
              <a:t>2024/11/15</a:t>
            </a:fld>
            <a:endParaRPr lang="zh-CN" altLang="en-US" noProof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14A537-FBC6-4533-8B31-767E68D33208}" type="datetime1">
              <a:rPr lang="zh-CN" altLang="en-US" noProof="0" smtClean="0"/>
              <a:t>2024/11/15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8" name="直接连接符​​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235200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ctr" rtl="0"/>
            <a:r>
              <a:rPr lang="en-US" altLang="zh-CN" sz="4800" dirty="0">
                <a:solidFill>
                  <a:schemeClr val="bg1"/>
                </a:solidFill>
              </a:rPr>
              <a:t>Face-Mask-Detection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A57069-19AA-AE6C-E603-0DA043255815}"/>
              </a:ext>
            </a:extLst>
          </p:cNvPr>
          <p:cNvSpPr txBox="1"/>
          <p:nvPr/>
        </p:nvSpPr>
        <p:spPr>
          <a:xfrm>
            <a:off x="3415922" y="4850726"/>
            <a:ext cx="48887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Group 1</a:t>
            </a:r>
            <a:endParaRPr lang="en-CA" altLang="zh-CN" dirty="0">
              <a:solidFill>
                <a:schemeClr val="bg1"/>
              </a:solidFill>
            </a:endParaRPr>
          </a:p>
          <a:p>
            <a:pPr algn="ctr"/>
            <a:r>
              <a:rPr lang="en-CA" altLang="zh-CN" dirty="0">
                <a:solidFill>
                  <a:schemeClr val="bg1"/>
                </a:solidFill>
              </a:rPr>
              <a:t>1. Junjun Hu (Student ID: 1264029)  </a:t>
            </a:r>
          </a:p>
          <a:p>
            <a:pPr algn="ctr"/>
            <a:r>
              <a:rPr lang="en-CA" altLang="zh-CN" dirty="0">
                <a:solidFill>
                  <a:schemeClr val="bg1"/>
                </a:solidFill>
              </a:rPr>
              <a:t>2. </a:t>
            </a:r>
            <a:r>
              <a:rPr lang="en-CA" altLang="zh-CN" dirty="0" err="1">
                <a:solidFill>
                  <a:schemeClr val="bg1"/>
                </a:solidFill>
              </a:rPr>
              <a:t>Zhijie</a:t>
            </a:r>
            <a:r>
              <a:rPr lang="en-CA" altLang="zh-CN" dirty="0">
                <a:solidFill>
                  <a:schemeClr val="bg1"/>
                </a:solidFill>
              </a:rPr>
              <a:t> Shen(Student ID: 1263245)  </a:t>
            </a:r>
          </a:p>
          <a:p>
            <a:pPr algn="ctr"/>
            <a:r>
              <a:rPr lang="en-CA" altLang="zh-CN" dirty="0">
                <a:solidFill>
                  <a:schemeClr val="bg1"/>
                </a:solidFill>
              </a:rPr>
              <a:t>3. </a:t>
            </a:r>
            <a:r>
              <a:rPr lang="en-CA" altLang="zh-CN" dirty="0" err="1">
                <a:solidFill>
                  <a:schemeClr val="bg1"/>
                </a:solidFill>
              </a:rPr>
              <a:t>Junzhe</a:t>
            </a:r>
            <a:r>
              <a:rPr lang="en-CA" altLang="zh-CN" dirty="0">
                <a:solidFill>
                  <a:schemeClr val="bg1"/>
                </a:solidFill>
              </a:rPr>
              <a:t> Ban (Student ID: 1247596)  </a:t>
            </a:r>
          </a:p>
          <a:p>
            <a:pPr algn="ctr"/>
            <a:r>
              <a:rPr lang="en-CA" altLang="zh-CN" dirty="0">
                <a:solidFill>
                  <a:schemeClr val="bg1"/>
                </a:solidFill>
              </a:rPr>
              <a:t>4. </a:t>
            </a:r>
            <a:r>
              <a:rPr lang="en-CA" altLang="zh-CN" dirty="0" err="1">
                <a:solidFill>
                  <a:schemeClr val="bg1"/>
                </a:solidFill>
              </a:rPr>
              <a:t>Zhiyuan</a:t>
            </a:r>
            <a:r>
              <a:rPr lang="en-CA" altLang="zh-CN" dirty="0">
                <a:solidFill>
                  <a:schemeClr val="bg1"/>
                </a:solidFill>
              </a:rPr>
              <a:t> Sun(Student ID: 1251936)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005B2-E501-2AB3-0DD0-44EEF02C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Catalog	</a:t>
            </a:r>
            <a:endParaRPr lang="zh-CN" alt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1E47663-3963-6158-16B0-78C6919E8E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6750" y="1750675"/>
            <a:ext cx="3739469" cy="30557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Introduction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Data </a:t>
            </a: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Analyze</a:t>
            </a: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C61548-E60E-F0D3-0559-A8C2DB49A8D2}"/>
              </a:ext>
            </a:extLst>
          </p:cNvPr>
          <p:cNvSpPr txBox="1">
            <a:spLocks/>
          </p:cNvSpPr>
          <p:nvPr/>
        </p:nvSpPr>
        <p:spPr>
          <a:xfrm>
            <a:off x="6237044" y="1750675"/>
            <a:ext cx="3739469" cy="3367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Model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Code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Interactive section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zh-CN" sz="18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zh-CN" sz="18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29712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en-CA" altLang="zh-CN" dirty="0"/>
              <a:t>Introduction 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pic>
        <p:nvPicPr>
          <p:cNvPr id="5" name="图片 4" descr="显示不同设计选项的设计灵感窗格"/>
          <p:cNvPicPr>
            <a:picLocks noChangeAspect="1"/>
          </p:cNvPicPr>
          <p:nvPr/>
        </p:nvPicPr>
        <p:blipFill rotWithShape="1">
          <a:blip r:embed="rId3"/>
          <a:srcRect l="21716" t="2160" r="1890" b="-2160"/>
          <a:stretch/>
        </p:blipFill>
        <p:spPr>
          <a:xfrm>
            <a:off x="5732060" y="1682090"/>
            <a:ext cx="6009689" cy="45776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20932CD-DD68-E81C-E3E9-4700F9E66471}"/>
              </a:ext>
            </a:extLst>
          </p:cNvPr>
          <p:cNvSpPr txBox="1"/>
          <p:nvPr/>
        </p:nvSpPr>
        <p:spPr>
          <a:xfrm>
            <a:off x="377905" y="2754934"/>
            <a:ext cx="57180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Mask recognition technology has received widespread attention in the fields of public safety and medicine in recent years.</a:t>
            </a:r>
          </a:p>
          <a:p>
            <a:r>
              <a:rPr lang="en-US" altLang="zh-CN" dirty="0"/>
              <a:t>The </a:t>
            </a:r>
            <a:r>
              <a:rPr lang="en-CA" altLang="zh-CN" dirty="0"/>
              <a:t>Convolutional Neural Network</a:t>
            </a:r>
            <a:r>
              <a:rPr lang="en-US" altLang="zh-CN" dirty="0"/>
              <a:t>-based mask recognition system uses computer vision technology to automatically identify and distinguish between people wearing masks and those not wearing masks by training image classification models.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AC63-062B-AB0B-4764-5E3A3D87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2C74969F-3B1D-40E8-DC36-FF8CCD85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en-CA" altLang="zh-CN" dirty="0"/>
              <a:t>ENVIRONMENT 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6D777E-AD99-AF6D-A3C2-D35A8D104DEF}"/>
              </a:ext>
            </a:extLst>
          </p:cNvPr>
          <p:cNvSpPr txBox="1"/>
          <p:nvPr/>
        </p:nvSpPr>
        <p:spPr>
          <a:xfrm>
            <a:off x="521207" y="1175690"/>
            <a:ext cx="3156865" cy="522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CN" dirty="0"/>
              <a:t>Package              Version</a:t>
            </a:r>
          </a:p>
          <a:p>
            <a:r>
              <a:rPr lang="en-CA" altLang="zh-CN" dirty="0"/>
              <a:t>-------------------- -----------</a:t>
            </a:r>
          </a:p>
          <a:p>
            <a:pPr>
              <a:lnSpc>
                <a:spcPts val="1425"/>
              </a:lnSpc>
            </a:pPr>
            <a:r>
              <a:rPr lang="en-CA" altLang="zh-CN" dirty="0" err="1"/>
              <a:t>Tensorflow</a:t>
            </a:r>
            <a:r>
              <a:rPr lang="en-CA" altLang="zh-CN" dirty="0"/>
              <a:t>	1.15.2</a:t>
            </a:r>
          </a:p>
          <a:p>
            <a:pPr>
              <a:lnSpc>
                <a:spcPts val="1425"/>
              </a:lnSpc>
            </a:pPr>
            <a:r>
              <a:rPr lang="en-CA" altLang="zh-CN" dirty="0" err="1"/>
              <a:t>Keras</a:t>
            </a:r>
            <a:r>
              <a:rPr lang="en-CA" altLang="zh-CN" dirty="0"/>
              <a:t>		2.3.1</a:t>
            </a:r>
          </a:p>
          <a:p>
            <a:pPr>
              <a:lnSpc>
                <a:spcPts val="1425"/>
              </a:lnSpc>
            </a:pPr>
            <a:r>
              <a:rPr lang="en-CA" altLang="zh-CN" dirty="0" err="1"/>
              <a:t>Imutils</a:t>
            </a:r>
            <a:r>
              <a:rPr lang="en-CA" altLang="zh-CN" dirty="0"/>
              <a:t>		0.5.3</a:t>
            </a:r>
          </a:p>
          <a:p>
            <a:pPr>
              <a:lnSpc>
                <a:spcPts val="1425"/>
              </a:lnSpc>
            </a:pPr>
            <a:r>
              <a:rPr lang="en-CA" altLang="zh-CN" dirty="0" err="1"/>
              <a:t>Numpy</a:t>
            </a:r>
            <a:r>
              <a:rPr lang="en-CA" altLang="zh-CN" dirty="0"/>
              <a:t>		1.18.2</a:t>
            </a:r>
          </a:p>
          <a:p>
            <a:pPr>
              <a:lnSpc>
                <a:spcPts val="1425"/>
              </a:lnSpc>
            </a:pPr>
            <a:r>
              <a:rPr lang="en-CA" altLang="zh-CN" dirty="0" err="1"/>
              <a:t>opencv</a:t>
            </a:r>
            <a:r>
              <a:rPr lang="en-CA" altLang="zh-CN" dirty="0"/>
              <a:t>-python	4.2.0.*</a:t>
            </a:r>
          </a:p>
          <a:p>
            <a:pPr>
              <a:lnSpc>
                <a:spcPts val="1425"/>
              </a:lnSpc>
            </a:pPr>
            <a:r>
              <a:rPr lang="en-CA" altLang="zh-CN" dirty="0"/>
              <a:t>Matplotlib	3.2.1</a:t>
            </a:r>
          </a:p>
          <a:p>
            <a:pPr>
              <a:lnSpc>
                <a:spcPts val="1425"/>
              </a:lnSpc>
            </a:pPr>
            <a:r>
              <a:rPr lang="en-CA" altLang="zh-CN" dirty="0" err="1"/>
              <a:t>Scipy</a:t>
            </a:r>
            <a:r>
              <a:rPr lang="en-CA" altLang="zh-CN" dirty="0"/>
              <a:t>		1.4.1</a:t>
            </a:r>
          </a:p>
          <a:p>
            <a:r>
              <a:rPr lang="en-CA" altLang="zh-CN" dirty="0"/>
              <a:t>h5py                 2.10.0</a:t>
            </a:r>
          </a:p>
          <a:p>
            <a:r>
              <a:rPr lang="en-CA" altLang="zh-CN" dirty="0" err="1"/>
              <a:t>Keras</a:t>
            </a:r>
            <a:r>
              <a:rPr lang="en-CA" altLang="zh-CN" dirty="0"/>
              <a:t>                2.3.1</a:t>
            </a:r>
          </a:p>
          <a:p>
            <a:r>
              <a:rPr lang="en-CA" altLang="zh-CN" dirty="0" err="1"/>
              <a:t>Keras</a:t>
            </a:r>
            <a:r>
              <a:rPr lang="en-CA" altLang="zh-CN" dirty="0"/>
              <a:t>-Applications   1.0.8</a:t>
            </a:r>
          </a:p>
          <a:p>
            <a:r>
              <a:rPr lang="en-CA" altLang="zh-CN" dirty="0"/>
              <a:t>Pillow               9.5.0</a:t>
            </a:r>
          </a:p>
          <a:p>
            <a:r>
              <a:rPr lang="en-CA" altLang="zh-CN" dirty="0"/>
              <a:t>scikit-learn         0.22.2</a:t>
            </a:r>
          </a:p>
          <a:p>
            <a:r>
              <a:rPr lang="en-CA" altLang="zh-CN" dirty="0" err="1"/>
              <a:t>tensorflow</a:t>
            </a:r>
            <a:r>
              <a:rPr lang="en-CA" altLang="zh-CN" dirty="0"/>
              <a:t>           1.15.2</a:t>
            </a:r>
          </a:p>
          <a:p>
            <a:r>
              <a:rPr lang="en-CA" altLang="zh-CN" dirty="0" err="1"/>
              <a:t>tensorflow</a:t>
            </a:r>
            <a:r>
              <a:rPr lang="en-CA" altLang="zh-CN" dirty="0"/>
              <a:t>-estimator 1.15.1</a:t>
            </a:r>
          </a:p>
          <a:p>
            <a:r>
              <a:rPr lang="en-CA" altLang="zh-CN" dirty="0" err="1"/>
              <a:t>Keras</a:t>
            </a:r>
            <a:r>
              <a:rPr lang="en-CA" altLang="zh-CN" dirty="0"/>
              <a:t>-Preprocessing  1.1.2</a:t>
            </a:r>
          </a:p>
          <a:p>
            <a:r>
              <a:rPr lang="en-CA" altLang="zh-CN" dirty="0"/>
              <a:t>matplotlib           3.2.1</a:t>
            </a:r>
          </a:p>
          <a:p>
            <a:r>
              <a:rPr lang="en-CA" altLang="zh-CN" dirty="0" err="1"/>
              <a:t>numpy</a:t>
            </a:r>
            <a:r>
              <a:rPr lang="en-CA" altLang="zh-CN" dirty="0"/>
              <a:t>                1.18.2</a:t>
            </a:r>
          </a:p>
          <a:p>
            <a:endParaRPr lang="en-CA" altLang="zh-CN" dirty="0"/>
          </a:p>
          <a:p>
            <a:endParaRPr lang="en-CA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C401C0-B934-06DC-6D59-84165E02EEAD}"/>
              </a:ext>
            </a:extLst>
          </p:cNvPr>
          <p:cNvSpPr txBox="1"/>
          <p:nvPr/>
        </p:nvSpPr>
        <p:spPr>
          <a:xfrm>
            <a:off x="4088643" y="1175690"/>
            <a:ext cx="356092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CN" dirty="0"/>
              <a:t>Package              Version</a:t>
            </a:r>
          </a:p>
          <a:p>
            <a:r>
              <a:rPr lang="en-CA" altLang="zh-CN" dirty="0"/>
              <a:t>-------------------- -----------</a:t>
            </a:r>
          </a:p>
          <a:p>
            <a:r>
              <a:rPr lang="en-CA" altLang="zh-CN" dirty="0" err="1"/>
              <a:t>protobuf</a:t>
            </a:r>
            <a:r>
              <a:rPr lang="en-CA" altLang="zh-CN" dirty="0"/>
              <a:t>             3.20.3</a:t>
            </a:r>
          </a:p>
          <a:p>
            <a:r>
              <a:rPr lang="en-CA" altLang="zh-CN" dirty="0" err="1"/>
              <a:t>pyparsing</a:t>
            </a:r>
            <a:r>
              <a:rPr lang="en-CA" altLang="zh-CN" dirty="0"/>
              <a:t>            3.1.4</a:t>
            </a:r>
          </a:p>
          <a:p>
            <a:r>
              <a:rPr lang="en-CA" altLang="zh-CN" dirty="0"/>
              <a:t>python-</a:t>
            </a:r>
            <a:r>
              <a:rPr lang="en-CA" altLang="zh-CN" dirty="0" err="1"/>
              <a:t>dateutil</a:t>
            </a:r>
            <a:r>
              <a:rPr lang="en-CA" altLang="zh-CN" dirty="0"/>
              <a:t>      2.9.0.post0</a:t>
            </a:r>
          </a:p>
          <a:p>
            <a:r>
              <a:rPr lang="en-CA" altLang="zh-CN" dirty="0" err="1"/>
              <a:t>PyYAML</a:t>
            </a:r>
            <a:r>
              <a:rPr lang="en-CA" altLang="zh-CN" dirty="0"/>
              <a:t>               6.0.1</a:t>
            </a:r>
          </a:p>
          <a:p>
            <a:r>
              <a:rPr lang="en-CA" altLang="zh-CN" dirty="0" err="1"/>
              <a:t>scipy</a:t>
            </a:r>
            <a:r>
              <a:rPr lang="en-CA" altLang="zh-CN" dirty="0"/>
              <a:t>                1.4.1</a:t>
            </a:r>
          </a:p>
          <a:p>
            <a:r>
              <a:rPr lang="en-CA" altLang="zh-CN" dirty="0" err="1"/>
              <a:t>setuptools</a:t>
            </a:r>
            <a:r>
              <a:rPr lang="en-CA" altLang="zh-CN" dirty="0"/>
              <a:t>           47.1.0</a:t>
            </a:r>
          </a:p>
          <a:p>
            <a:r>
              <a:rPr lang="en-CA" altLang="zh-CN" dirty="0"/>
              <a:t>six                  1.16.0</a:t>
            </a:r>
          </a:p>
          <a:p>
            <a:r>
              <a:rPr lang="en-CA" altLang="zh-CN" dirty="0" err="1"/>
              <a:t>tensorboard</a:t>
            </a:r>
            <a:r>
              <a:rPr lang="en-CA" altLang="zh-CN" dirty="0"/>
              <a:t>          1.15.0</a:t>
            </a:r>
          </a:p>
          <a:p>
            <a:r>
              <a:rPr lang="en-CA" altLang="zh-CN" dirty="0" err="1"/>
              <a:t>termcolor</a:t>
            </a:r>
            <a:r>
              <a:rPr lang="en-CA" altLang="zh-CN" dirty="0"/>
              <a:t>            2.3.0</a:t>
            </a:r>
          </a:p>
          <a:p>
            <a:r>
              <a:rPr lang="en-CA" altLang="zh-CN" dirty="0" err="1"/>
              <a:t>threadpoolctl</a:t>
            </a:r>
            <a:r>
              <a:rPr lang="en-CA" altLang="zh-CN" dirty="0"/>
              <a:t>        3.1.0</a:t>
            </a:r>
          </a:p>
          <a:p>
            <a:r>
              <a:rPr lang="en-CA" altLang="zh-CN" dirty="0" err="1"/>
              <a:t>typing_extensions</a:t>
            </a:r>
            <a:r>
              <a:rPr lang="en-CA" altLang="zh-CN" dirty="0"/>
              <a:t>    4.7.1</a:t>
            </a:r>
          </a:p>
          <a:p>
            <a:r>
              <a:rPr lang="en-CA" altLang="zh-CN" dirty="0" err="1"/>
              <a:t>Werkzeug</a:t>
            </a:r>
            <a:r>
              <a:rPr lang="en-CA" altLang="zh-CN" dirty="0"/>
              <a:t>             2.2.3</a:t>
            </a:r>
          </a:p>
          <a:p>
            <a:r>
              <a:rPr lang="en-CA" altLang="zh-CN" dirty="0"/>
              <a:t>Markdown             3.4.4</a:t>
            </a:r>
          </a:p>
          <a:p>
            <a:r>
              <a:rPr lang="en-CA" altLang="zh-CN" dirty="0" err="1"/>
              <a:t>MarkupSafe</a:t>
            </a:r>
            <a:r>
              <a:rPr lang="en-CA" altLang="zh-CN" dirty="0"/>
              <a:t>           2.1.5</a:t>
            </a:r>
          </a:p>
          <a:p>
            <a:endParaRPr lang="en-CA" altLang="zh-CN" dirty="0"/>
          </a:p>
          <a:p>
            <a:endParaRPr lang="en-CA" altLang="zh-CN" dirty="0"/>
          </a:p>
          <a:p>
            <a:endParaRPr lang="en-CA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7BF6B9-2552-7B00-9C13-DF6D4EB383EE}"/>
              </a:ext>
            </a:extLst>
          </p:cNvPr>
          <p:cNvSpPr txBox="1"/>
          <p:nvPr/>
        </p:nvSpPr>
        <p:spPr>
          <a:xfrm>
            <a:off x="7948116" y="1230281"/>
            <a:ext cx="35609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CN" dirty="0"/>
              <a:t>Package              Version</a:t>
            </a:r>
          </a:p>
          <a:p>
            <a:r>
              <a:rPr lang="en-CA" altLang="zh-CN" dirty="0"/>
              <a:t>-------------------- -----------</a:t>
            </a:r>
          </a:p>
          <a:p>
            <a:r>
              <a:rPr lang="en-CA" altLang="zh-CN" dirty="0" err="1"/>
              <a:t>opencv</a:t>
            </a:r>
            <a:r>
              <a:rPr lang="en-CA" altLang="zh-CN" dirty="0"/>
              <a:t>-python        4.2.0.34</a:t>
            </a:r>
          </a:p>
          <a:p>
            <a:r>
              <a:rPr lang="en-CA" altLang="zh-CN" dirty="0"/>
              <a:t>opt-</a:t>
            </a:r>
            <a:r>
              <a:rPr lang="en-CA" altLang="zh-CN" dirty="0" err="1"/>
              <a:t>einsum</a:t>
            </a:r>
            <a:r>
              <a:rPr lang="en-CA" altLang="zh-CN" dirty="0"/>
              <a:t>           3.3.0</a:t>
            </a:r>
          </a:p>
          <a:p>
            <a:r>
              <a:rPr lang="en-CA" altLang="zh-CN" dirty="0"/>
              <a:t>pip                  24.0</a:t>
            </a:r>
          </a:p>
          <a:p>
            <a:r>
              <a:rPr lang="en-CA" altLang="zh-CN" dirty="0" err="1"/>
              <a:t>kiwisolver</a:t>
            </a:r>
            <a:r>
              <a:rPr lang="en-CA" altLang="zh-CN" dirty="0"/>
              <a:t>           1.4.5</a:t>
            </a:r>
          </a:p>
        </p:txBody>
      </p:sp>
    </p:spTree>
    <p:extLst>
      <p:ext uri="{BB962C8B-B14F-4D97-AF65-F5344CB8AC3E}">
        <p14:creationId xmlns:p14="http://schemas.microsoft.com/office/powerpoint/2010/main" val="421079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DATASET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249426" y="1619058"/>
            <a:ext cx="5245041" cy="3601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en-US" altLang="zh-CN" sz="18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Data Categories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 </a:t>
            </a: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: The data source contains two different categories of data, ["</a:t>
            </a:r>
            <a:r>
              <a:rPr lang="en-US" altLang="zh-CN" sz="1800" dirty="0" err="1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with_mask</a:t>
            </a: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", "</a:t>
            </a:r>
            <a:r>
              <a:rPr lang="en-US" altLang="zh-CN" sz="1800" dirty="0" err="1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without_mask</a:t>
            </a: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"].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en-US" altLang="zh-CN" sz="18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The training and test datasets are divided into 80% training set and 20% test set.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There are 1,915 masked images and 1,918 unmasked images.</a:t>
            </a:r>
            <a:endParaRPr lang="zh-CN" altLang="en-US" sz="18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BCED264-44A1-8155-EA32-7CE9416EA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004" y="1206661"/>
            <a:ext cx="1912322" cy="30007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5A592B-8343-9BE5-A3BE-A78CA1C97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326" y="1206661"/>
            <a:ext cx="1825779" cy="30007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BC67315-CBD2-D36D-B9F2-102609C46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774" y="1189515"/>
            <a:ext cx="1825780" cy="300075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45BA95A-5448-1BFD-B7DB-435379161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8136" y="4207419"/>
            <a:ext cx="1398114" cy="133597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6B072B2-8258-2A64-0FAD-2D595EA1E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249" y="4207419"/>
            <a:ext cx="1330283" cy="12477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E24DC7C-092D-9EC7-4243-60D0F35EE8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8924" y="4160132"/>
            <a:ext cx="1529179" cy="123063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6B41B94-69C0-B490-F73F-B488A4E0F5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6181" y="4190274"/>
            <a:ext cx="1295400" cy="12349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AF188B3-44C7-0AAC-0196-A328D43E74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8136" y="5455194"/>
            <a:ext cx="1466850" cy="124777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146E8C3-034F-A293-80F8-A127F4ED88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1539" y="5436712"/>
            <a:ext cx="1233559" cy="123355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AE3FC86-EA38-529C-50ED-11513FE244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6533" y="5390762"/>
            <a:ext cx="1493239" cy="124777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D4D316A-7203-F0CA-28E7-77FA02FE33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9257" y="5420904"/>
            <a:ext cx="1335879" cy="11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DATA ANALYZE</a:t>
            </a:r>
            <a:endParaRPr lang="zh-CN" altLang="en-US" dirty="0"/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81EB4018-9C1C-7B72-4E58-AB9040B2E871}"/>
              </a:ext>
            </a:extLst>
          </p:cNvPr>
          <p:cNvSpPr txBox="1">
            <a:spLocks/>
          </p:cNvSpPr>
          <p:nvPr/>
        </p:nvSpPr>
        <p:spPr>
          <a:xfrm>
            <a:off x="541610" y="1431010"/>
            <a:ext cx="4557164" cy="4790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Aft>
                <a:spcPts val="600"/>
              </a:spcAft>
            </a:pPr>
            <a:endParaRPr lang="en-US" altLang="zh-CN" sz="5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9B0D11-CF3F-A9C7-FF23-AAF94AFFDCFF}"/>
              </a:ext>
            </a:extLst>
          </p:cNvPr>
          <p:cNvSpPr txBox="1"/>
          <p:nvPr/>
        </p:nvSpPr>
        <p:spPr>
          <a:xfrm>
            <a:off x="757575" y="2270971"/>
            <a:ext cx="1067685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Read the image path: </a:t>
            </a:r>
            <a:r>
              <a:rPr lang="en-US" altLang="zh-CN" dirty="0"/>
              <a:t>construct the path of each image through </a:t>
            </a:r>
            <a:r>
              <a:rPr lang="en-US" altLang="zh-CN" dirty="0" err="1"/>
              <a:t>os.path.join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sz="2400" dirty="0"/>
              <a:t>Resize the image: </a:t>
            </a:r>
            <a:r>
              <a:rPr lang="en-US" altLang="zh-CN" dirty="0"/>
              <a:t>Resize images to 224 pixels to unify the size and format of all images.</a:t>
            </a:r>
          </a:p>
          <a:p>
            <a:endParaRPr lang="en-US" altLang="zh-CN" dirty="0"/>
          </a:p>
          <a:p>
            <a:r>
              <a:rPr lang="en-US" altLang="zh-CN" sz="2400" dirty="0"/>
              <a:t>Convert to array format: </a:t>
            </a:r>
            <a:r>
              <a:rPr lang="en-US" altLang="zh-CN" dirty="0"/>
              <a:t>convert the image to array format for deep learning model processing.</a:t>
            </a:r>
          </a:p>
          <a:p>
            <a:endParaRPr lang="en-US" altLang="zh-CN" dirty="0"/>
          </a:p>
          <a:p>
            <a:r>
              <a:rPr lang="en-US" altLang="zh-CN" sz="2400" dirty="0"/>
              <a:t>Label encoding:</a:t>
            </a:r>
            <a:r>
              <a:rPr lang="en-US" altLang="zh-CN" dirty="0"/>
              <a:t> Use </a:t>
            </a:r>
            <a:r>
              <a:rPr lang="en-US" altLang="zh-CN" dirty="0" err="1">
                <a:solidFill>
                  <a:srgbClr val="FF0000"/>
                </a:solidFill>
              </a:rPr>
              <a:t>LabelBinarizer</a:t>
            </a:r>
            <a:r>
              <a:rPr lang="en-US" altLang="zh-CN" dirty="0"/>
              <a:t>   to binarize the labels, </a:t>
            </a:r>
          </a:p>
          <a:p>
            <a:r>
              <a:rPr lang="en-US" altLang="zh-CN" dirty="0" err="1"/>
              <a:t>with_mask</a:t>
            </a:r>
            <a:r>
              <a:rPr lang="en-US" altLang="zh-CN" dirty="0"/>
              <a:t> labels are encoded as [1, 0]</a:t>
            </a:r>
          </a:p>
          <a:p>
            <a:r>
              <a:rPr lang="en-US" altLang="zh-CN" dirty="0" err="1"/>
              <a:t>without_mask</a:t>
            </a:r>
            <a:r>
              <a:rPr lang="en-US" altLang="zh-CN" dirty="0"/>
              <a:t> labels are encoded as [0, 1]</a:t>
            </a: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DEFB-0B9E-4C1A-9906-5CFB002F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29911D-4766-7761-9D73-B1E3114D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Model Training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DA32DB-02A4-3FD9-6535-42EB94C0E531}"/>
              </a:ext>
            </a:extLst>
          </p:cNvPr>
          <p:cNvSpPr txBox="1"/>
          <p:nvPr/>
        </p:nvSpPr>
        <p:spPr>
          <a:xfrm>
            <a:off x="460375" y="1331631"/>
            <a:ext cx="1127125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This model is based on </a:t>
            </a:r>
            <a:r>
              <a:rPr lang="en-US" altLang="zh-CN" dirty="0">
                <a:solidFill>
                  <a:srgbClr val="FF0000"/>
                </a:solidFill>
              </a:rPr>
              <a:t>TensorFlow</a:t>
            </a:r>
            <a:r>
              <a:rPr lang="en-US" altLang="zh-CN" dirty="0"/>
              <a:t> and </a:t>
            </a:r>
            <a:r>
              <a:rPr lang="en-US" altLang="zh-CN" dirty="0" err="1">
                <a:solidFill>
                  <a:srgbClr val="FF0000"/>
                </a:solidFill>
              </a:rPr>
              <a:t>Keras</a:t>
            </a:r>
            <a:r>
              <a:rPr lang="en-US" altLang="zh-CN" dirty="0"/>
              <a:t>, and uses MobileNetV2 as the basic model for feature extraction. It is suitable for lightweight deep learning tasks. </a:t>
            </a:r>
          </a:p>
          <a:p>
            <a:endParaRPr lang="en-US" altLang="zh-CN" dirty="0"/>
          </a:p>
          <a:p>
            <a:r>
              <a:rPr lang="en-US" altLang="zh-CN" sz="2400" dirty="0"/>
              <a:t>MobileNetV2 basic model</a:t>
            </a:r>
          </a:p>
          <a:p>
            <a:r>
              <a:rPr lang="en-US" altLang="zh-CN" dirty="0"/>
              <a:t>Delete the original fully connected layer to build a custom classification on it.</a:t>
            </a:r>
          </a:p>
          <a:p>
            <a:endParaRPr lang="en-US" altLang="zh-CN" dirty="0"/>
          </a:p>
          <a:p>
            <a:r>
              <a:rPr lang="en-US" altLang="zh-CN" dirty="0"/>
              <a:t>The input tensor is Input(shape=(224, 224, 3)), which is suitable for image .</a:t>
            </a:r>
          </a:p>
          <a:p>
            <a:endParaRPr lang="en-US" altLang="zh-CN" dirty="0"/>
          </a:p>
          <a:p>
            <a:r>
              <a:rPr lang="en-US" altLang="zh-CN" sz="2400" dirty="0"/>
              <a:t>Custom classification </a:t>
            </a:r>
          </a:p>
          <a:p>
            <a:r>
              <a:rPr lang="en-US" altLang="zh-CN" dirty="0"/>
              <a:t>Average pooling layer: AveragePooling2D(</a:t>
            </a:r>
            <a:r>
              <a:rPr lang="en-US" altLang="zh-CN" dirty="0" err="1"/>
              <a:t>pool_size</a:t>
            </a:r>
            <a:r>
              <a:rPr lang="en-US" altLang="zh-CN" dirty="0"/>
              <a:t>=(7, 7)) pools the feature map to reduce the data dimension.</a:t>
            </a:r>
          </a:p>
          <a:p>
            <a:r>
              <a:rPr lang="en-US" altLang="zh-CN" dirty="0"/>
              <a:t>Flattening layer: Flattens the pooled feature map into a one-dimensional vector.</a:t>
            </a:r>
          </a:p>
          <a:p>
            <a:r>
              <a:rPr lang="en-US" altLang="zh-CN" dirty="0"/>
              <a:t>Fully connected layer: Add a fully connected layer with 128 units and use the </a:t>
            </a:r>
            <a:r>
              <a:rPr lang="en-US" altLang="zh-CN" dirty="0" err="1"/>
              <a:t>ReLU</a:t>
            </a:r>
            <a:r>
              <a:rPr lang="en-US" altLang="zh-CN" dirty="0"/>
              <a:t> activation function.</a:t>
            </a:r>
          </a:p>
          <a:p>
            <a:r>
              <a:rPr lang="en-US" altLang="zh-CN" dirty="0"/>
              <a:t>Dropout layer: Dropout (0.5), randomly drops neurons with a probability of 50% to prevent overfitting.</a:t>
            </a:r>
          </a:p>
          <a:p>
            <a:r>
              <a:rPr lang="en-US" altLang="zh-CN" dirty="0"/>
              <a:t>Output layer: Contains 2 units, used to output the probability of wearing a mask and not wearing a mask, using the </a:t>
            </a:r>
            <a:r>
              <a:rPr lang="en-US" altLang="zh-CN" dirty="0" err="1"/>
              <a:t>Softmax</a:t>
            </a:r>
            <a:r>
              <a:rPr lang="en-US" altLang="zh-CN" dirty="0"/>
              <a:t> activation function.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849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CA" altLang="zh-CN" dirty="0">
                <a:cs typeface="Segoe UI Light" panose="020B0502040204020203" pitchFamily="34" charset="0"/>
              </a:rPr>
              <a:t>What is</a:t>
            </a:r>
            <a:r>
              <a:rPr lang="en-US" altLang="zh-CN" dirty="0"/>
              <a:t> MobileNetV2</a:t>
            </a:r>
            <a:r>
              <a:rPr lang="en-CA" altLang="zh-CN" dirty="0">
                <a:cs typeface="Segoe UI Light" panose="020B0502040204020203" pitchFamily="34" charset="0"/>
              </a:rPr>
              <a:t> </a:t>
            </a:r>
            <a:r>
              <a:rPr lang="zh-CN" altLang="en-US" dirty="0">
                <a:cs typeface="Segoe UI Light" panose="020B0502040204020203" pitchFamily="34" charset="0"/>
              </a:rPr>
              <a:t>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2E0258-A6D4-D796-EDF5-ACCD33468D66}"/>
              </a:ext>
            </a:extLst>
          </p:cNvPr>
          <p:cNvSpPr txBox="1"/>
          <p:nvPr/>
        </p:nvSpPr>
        <p:spPr>
          <a:xfrm>
            <a:off x="5639937" y="2971800"/>
            <a:ext cx="4616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1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BC092C-E9DB-61B8-2229-0759E2F44BCB}"/>
                  </a:ext>
                </a:extLst>
              </p:cNvPr>
              <p:cNvSpPr txBox="1"/>
              <p:nvPr/>
            </p:nvSpPr>
            <p:spPr>
              <a:xfrm>
                <a:off x="1723031" y="3391005"/>
                <a:ext cx="1581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altLang="zh-CN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CA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altLang="zh-CN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CA" altLang="zh-CN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CA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BC092C-E9DB-61B8-2229-0759E2F44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031" y="3391005"/>
                <a:ext cx="1581907" cy="276999"/>
              </a:xfrm>
              <a:prstGeom prst="rect">
                <a:avLst/>
              </a:prstGeom>
              <a:blipFill>
                <a:blip r:embed="rId3"/>
                <a:stretch>
                  <a:fillRect l="-3089" r="-4633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CDA9B6E5-69CC-65C3-19C9-C9A601E1C588}"/>
              </a:ext>
            </a:extLst>
          </p:cNvPr>
          <p:cNvSpPr txBox="1"/>
          <p:nvPr/>
        </p:nvSpPr>
        <p:spPr>
          <a:xfrm>
            <a:off x="426288" y="2724181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core formula of MobileNetV2 is as follows: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74AD91-CB5C-4449-23A6-03CD6E1F27F9}"/>
              </a:ext>
            </a:extLst>
          </p:cNvPr>
          <p:cNvSpPr txBox="1"/>
          <p:nvPr/>
        </p:nvSpPr>
        <p:spPr>
          <a:xfrm>
            <a:off x="521208" y="3810210"/>
            <a:ext cx="51187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Among them, x is the input feature, and F(x) is the feature transformation through depth convolution and point-by-point convolution.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The key to MobileNetV2 is the the Inverted </a:t>
            </a:r>
            <a:r>
              <a:rPr lang="zh-CN" altLang="en-US" dirty="0">
                <a:solidFill>
                  <a:srgbClr val="FF0000"/>
                </a:solidFill>
              </a:rPr>
              <a:t>Residual structure </a:t>
            </a:r>
            <a:r>
              <a:rPr lang="zh-CN" altLang="en-US" dirty="0"/>
              <a:t>and the </a:t>
            </a:r>
            <a:r>
              <a:rPr lang="zh-CN" altLang="en-US" dirty="0">
                <a:solidFill>
                  <a:srgbClr val="FF0000"/>
                </a:solidFill>
              </a:rPr>
              <a:t>Linear Bottleneck</a:t>
            </a:r>
            <a:r>
              <a:rPr lang="zh-CN" altLang="en-US" dirty="0"/>
              <a:t>.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A5CFBB-CAFD-14FB-3C8A-B7E74FA06DD3}"/>
              </a:ext>
            </a:extLst>
          </p:cNvPr>
          <p:cNvSpPr txBox="1"/>
          <p:nvPr/>
        </p:nvSpPr>
        <p:spPr>
          <a:xfrm>
            <a:off x="5952148" y="2675365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CN" dirty="0"/>
              <a:t>Inverted Residual Block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6C1CF2B-E175-7E3D-6290-F17484F6A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34" y="3211500"/>
            <a:ext cx="5153744" cy="62873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BA7D8FB-912C-546F-025D-AF210C9DCB2F}"/>
              </a:ext>
            </a:extLst>
          </p:cNvPr>
          <p:cNvSpPr txBox="1"/>
          <p:nvPr/>
        </p:nvSpPr>
        <p:spPr>
          <a:xfrm>
            <a:off x="5952148" y="3965496"/>
            <a:ext cx="62779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 each reverse residual block, the input feature dimension is </a:t>
            </a:r>
            <a:r>
              <a:rPr lang="en-US" altLang="zh-CN" dirty="0">
                <a:solidFill>
                  <a:srgbClr val="FF0000"/>
                </a:solidFill>
              </a:rPr>
              <a:t>expanded to a larger dimension through pointwise convolution</a:t>
            </a:r>
            <a:r>
              <a:rPr lang="en-US" altLang="zh-CN" dirty="0"/>
              <a:t>, and then spatial features are extracted through </a:t>
            </a:r>
            <a:r>
              <a:rPr lang="en-US" altLang="zh-CN" dirty="0" err="1"/>
              <a:t>depthwise</a:t>
            </a:r>
            <a:r>
              <a:rPr lang="en-US" altLang="zh-CN" dirty="0"/>
              <a:t> convolution.</a:t>
            </a:r>
          </a:p>
          <a:p>
            <a:r>
              <a:rPr lang="en-US" altLang="zh-CN" dirty="0"/>
              <a:t>		</a:t>
            </a:r>
          </a:p>
          <a:p>
            <a:r>
              <a:rPr lang="en-US" altLang="zh-CN" dirty="0"/>
              <a:t>Conv1x1 is a point-wise convolution.</a:t>
            </a:r>
          </a:p>
          <a:p>
            <a:r>
              <a:rPr lang="en-US" altLang="zh-CN" dirty="0"/>
              <a:t>DW 3x3 is a 3x3 </a:t>
            </a:r>
            <a:r>
              <a:rPr lang="en-US" altLang="zh-CN" dirty="0" err="1"/>
              <a:t>depthwise</a:t>
            </a:r>
            <a:r>
              <a:rPr lang="en-US" altLang="zh-CN" dirty="0"/>
              <a:t> convolution.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E35E-4ECF-C83A-087C-922D3B3E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729DA89E-668B-79AB-C184-1F177BD9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CA" altLang="zh-CN" dirty="0">
                <a:cs typeface="Segoe UI Light" panose="020B0502040204020203" pitchFamily="34" charset="0"/>
              </a:rPr>
              <a:t>What is</a:t>
            </a:r>
            <a:r>
              <a:rPr lang="en-US" altLang="zh-CN" dirty="0"/>
              <a:t> MobileNetV2</a:t>
            </a:r>
            <a:r>
              <a:rPr lang="en-CA" altLang="zh-CN" dirty="0">
                <a:cs typeface="Segoe UI Light" panose="020B0502040204020203" pitchFamily="34" charset="0"/>
              </a:rPr>
              <a:t> </a:t>
            </a:r>
            <a:r>
              <a:rPr lang="zh-CN" altLang="en-US" dirty="0">
                <a:cs typeface="Segoe UI Light" panose="020B0502040204020203" pitchFamily="34" charset="0"/>
              </a:rPr>
              <a:t>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EE8B3C-9C41-805C-0AFB-4E0E4F17CAD2}"/>
              </a:ext>
            </a:extLst>
          </p:cNvPr>
          <p:cNvSpPr txBox="1"/>
          <p:nvPr/>
        </p:nvSpPr>
        <p:spPr>
          <a:xfrm>
            <a:off x="5639937" y="2971800"/>
            <a:ext cx="4616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1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DA188F-A566-3A9E-495F-4CD89678C1B0}"/>
              </a:ext>
            </a:extLst>
          </p:cNvPr>
          <p:cNvSpPr txBox="1"/>
          <p:nvPr/>
        </p:nvSpPr>
        <p:spPr>
          <a:xfrm>
            <a:off x="521208" y="2690336"/>
            <a:ext cx="6097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Linear Bottleneck: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Remove the </a:t>
            </a:r>
            <a:r>
              <a:rPr lang="en-US" altLang="zh-CN" dirty="0" err="1">
                <a:solidFill>
                  <a:srgbClr val="FF0000"/>
                </a:solidFill>
              </a:rPr>
              <a:t>ReLU</a:t>
            </a:r>
            <a:r>
              <a:rPr lang="en-US" altLang="zh-CN" dirty="0">
                <a:solidFill>
                  <a:srgbClr val="FF0000"/>
                </a:solidFill>
              </a:rPr>
              <a:t> activation </a:t>
            </a:r>
            <a:r>
              <a:rPr lang="en-US" altLang="zh-CN" dirty="0"/>
              <a:t>from the output of the reverse residual block to maintain feature diversity, especially for feature representation in low-dimensional space: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78F145-794F-04F1-19EA-91C47D9A7129}"/>
              </a:ext>
            </a:extLst>
          </p:cNvPr>
          <p:cNvSpPr txBox="1"/>
          <p:nvPr/>
        </p:nvSpPr>
        <p:spPr>
          <a:xfrm>
            <a:off x="1424485" y="4312396"/>
            <a:ext cx="3584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y=</a:t>
            </a:r>
            <a:r>
              <a:rPr lang="en-US" altLang="zh-CN" dirty="0" err="1"/>
              <a:t>x+F</a:t>
            </a:r>
            <a:r>
              <a:rPr lang="en-US" altLang="zh-CN" dirty="0"/>
              <a:t>(x)(if dimensions match)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7A124B-6EB4-C720-8C53-0289D4E28A32}"/>
              </a:ext>
            </a:extLst>
          </p:cNvPr>
          <p:cNvSpPr txBox="1"/>
          <p:nvPr/>
        </p:nvSpPr>
        <p:spPr>
          <a:xfrm>
            <a:off x="626091" y="4921745"/>
            <a:ext cx="6097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If the dimensions of the input and output are inconsistent, the output is directly </a:t>
            </a:r>
            <a:r>
              <a:rPr lang="zh-CN" altLang="en-US" dirty="0"/>
              <a:t>𝑦</a:t>
            </a:r>
            <a:r>
              <a:rPr lang="en-US" altLang="zh-CN" dirty="0"/>
              <a:t>=</a:t>
            </a:r>
            <a:r>
              <a:rPr lang="zh-CN" altLang="en-US" dirty="0"/>
              <a:t>𝐹</a:t>
            </a:r>
            <a:r>
              <a:rPr lang="en-US" altLang="zh-CN" dirty="0"/>
              <a:t>(</a:t>
            </a:r>
            <a:r>
              <a:rPr lang="zh-CN" altLang="en-US" dirty="0"/>
              <a:t>𝑥</a:t>
            </a:r>
            <a:r>
              <a:rPr lang="en-US" altLang="zh-CN" dirty="0"/>
              <a:t>). The design of this structure reduces the amount of calculation and the number of parameters, and is very suitable for use in resource-limited environments such as mobile devices.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DB3CC9-130F-7905-0AA6-E653D91C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871" y="2690336"/>
            <a:ext cx="3763695" cy="37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69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0E400-F772-7B3F-7E6E-B54CCA92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5AF93ED1-5E67-D721-4FE8-858C52A8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CA" altLang="zh-CN" dirty="0">
                <a:cs typeface="Segoe UI Light" panose="020B0502040204020203" pitchFamily="34" charset="0"/>
              </a:rPr>
              <a:t>What is</a:t>
            </a:r>
            <a:r>
              <a:rPr lang="en-US" altLang="zh-CN" dirty="0"/>
              <a:t> MobileNetV2</a:t>
            </a:r>
            <a:r>
              <a:rPr lang="en-CA" altLang="zh-CN" dirty="0">
                <a:cs typeface="Segoe UI Light" panose="020B0502040204020203" pitchFamily="34" charset="0"/>
              </a:rPr>
              <a:t> </a:t>
            </a:r>
            <a:r>
              <a:rPr lang="zh-CN" altLang="en-US" dirty="0">
                <a:cs typeface="Segoe UI Light" panose="020B0502040204020203" pitchFamily="34" charset="0"/>
              </a:rPr>
              <a:t>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0AFC11-D6F5-6D1E-EFC7-2B0678F9E081}"/>
              </a:ext>
            </a:extLst>
          </p:cNvPr>
          <p:cNvSpPr txBox="1"/>
          <p:nvPr/>
        </p:nvSpPr>
        <p:spPr>
          <a:xfrm>
            <a:off x="5639937" y="2971800"/>
            <a:ext cx="4616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1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8AC93A-AF76-4AD4-880D-E6A2A4C04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57" y="2784362"/>
            <a:ext cx="9135571" cy="335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244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EFB7-DDEC-3802-682B-65C522EE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199C80EE-0FB2-A65D-C00C-52D26206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CA" altLang="zh-CN" dirty="0">
                <a:cs typeface="Segoe UI Light" panose="020B0502040204020203" pitchFamily="34" charset="0"/>
              </a:rPr>
              <a:t>What is</a:t>
            </a:r>
            <a:r>
              <a:rPr lang="en-US" altLang="zh-CN" dirty="0"/>
              <a:t> MobileNetV2</a:t>
            </a:r>
            <a:r>
              <a:rPr lang="en-CA" altLang="zh-CN" dirty="0">
                <a:cs typeface="Segoe UI Light" panose="020B0502040204020203" pitchFamily="34" charset="0"/>
              </a:rPr>
              <a:t> </a:t>
            </a:r>
            <a:r>
              <a:rPr lang="zh-CN" altLang="en-US" dirty="0">
                <a:cs typeface="Segoe UI Light" panose="020B0502040204020203" pitchFamily="34" charset="0"/>
              </a:rPr>
              <a:t>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C2EE4B-3C1E-2EE0-F386-E80B787A64BE}"/>
              </a:ext>
            </a:extLst>
          </p:cNvPr>
          <p:cNvSpPr txBox="1"/>
          <p:nvPr/>
        </p:nvSpPr>
        <p:spPr>
          <a:xfrm>
            <a:off x="266700" y="2528650"/>
            <a:ext cx="114294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Advantages and Disadvantages of MobileNetV2</a:t>
            </a:r>
          </a:p>
          <a:p>
            <a:r>
              <a:rPr lang="en-US" altLang="zh-CN" dirty="0"/>
              <a:t>advantage:</a:t>
            </a:r>
          </a:p>
          <a:p>
            <a:endParaRPr lang="en-US" altLang="zh-CN" dirty="0"/>
          </a:p>
          <a:p>
            <a:r>
              <a:rPr lang="en-US" altLang="zh-CN" dirty="0"/>
              <a:t>The amount of </a:t>
            </a:r>
            <a:r>
              <a:rPr lang="en-US" altLang="zh-CN" dirty="0">
                <a:solidFill>
                  <a:srgbClr val="FF0000"/>
                </a:solidFill>
              </a:rPr>
              <a:t>parameters and calculations are significantly reduced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Can run on </a:t>
            </a:r>
            <a:r>
              <a:rPr lang="en-US" altLang="zh-CN" dirty="0">
                <a:solidFill>
                  <a:srgbClr val="FF0000"/>
                </a:solidFill>
              </a:rPr>
              <a:t>low-power devices and is suitable </a:t>
            </a:r>
            <a:r>
              <a:rPr lang="en-US" altLang="zh-CN" dirty="0"/>
              <a:t>for real-time applications.</a:t>
            </a:r>
          </a:p>
          <a:p>
            <a:r>
              <a:rPr lang="en-US" altLang="zh-CN" dirty="0"/>
              <a:t>Supports adjusting network width and input resolution to </a:t>
            </a:r>
            <a:r>
              <a:rPr lang="en-US" altLang="zh-CN" dirty="0">
                <a:solidFill>
                  <a:srgbClr val="FF0000"/>
                </a:solidFill>
              </a:rPr>
              <a:t>flexibly adapt</a:t>
            </a:r>
            <a:r>
              <a:rPr lang="en-US" altLang="zh-CN" dirty="0"/>
              <a:t> to different computing resources and performance requirements.</a:t>
            </a:r>
          </a:p>
          <a:p>
            <a:endParaRPr lang="en-US" altLang="zh-CN" dirty="0"/>
          </a:p>
          <a:p>
            <a:r>
              <a:rPr lang="en-US" altLang="zh-CN" dirty="0"/>
              <a:t>disadvantage:</a:t>
            </a:r>
          </a:p>
          <a:p>
            <a:endParaRPr lang="en-US" altLang="zh-CN" dirty="0"/>
          </a:p>
          <a:p>
            <a:r>
              <a:rPr lang="en-US" altLang="zh-CN" dirty="0"/>
              <a:t>On tasks with extremely high accuracy requirements, it may not be comparable to larger models MobileNetV2 is designed as a general feature extraction network. If there are more complex scene requirements, additional optimization and fine-tuning may be required.</a:t>
            </a:r>
          </a:p>
        </p:txBody>
      </p:sp>
    </p:spTree>
    <p:extLst>
      <p:ext uri="{BB962C8B-B14F-4D97-AF65-F5344CB8AC3E}">
        <p14:creationId xmlns:p14="http://schemas.microsoft.com/office/powerpoint/2010/main" val="3473915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7663-E416-53B0-28E8-1BC90201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D1E3E43-A7AA-D3D1-9240-AC6A64E6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Model TEST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276A68-1C8D-6C72-0EF6-570DA5F65EE9}"/>
              </a:ext>
            </a:extLst>
          </p:cNvPr>
          <p:cNvSpPr txBox="1"/>
          <p:nvPr/>
        </p:nvSpPr>
        <p:spPr>
          <a:xfrm>
            <a:off x="1336715" y="4423557"/>
            <a:ext cx="87032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Find the class with the highest probability from the predicted probabilities for each image.</a:t>
            </a:r>
          </a:p>
          <a:p>
            <a:endParaRPr lang="en-US" altLang="zh-CN" dirty="0"/>
          </a:p>
          <a:p>
            <a:r>
              <a:rPr lang="en-US" altLang="zh-CN" dirty="0"/>
              <a:t>Convert the true labels from one-hot encoding format to integer labels for comparison with the predicted labels.</a:t>
            </a:r>
          </a:p>
          <a:p>
            <a:endParaRPr lang="en-US" altLang="zh-CN" dirty="0"/>
          </a:p>
          <a:p>
            <a:r>
              <a:rPr lang="en-US" altLang="zh-CN" dirty="0"/>
              <a:t>Compare the predicted labels with the true labels to generate a classification report.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C8F6A1-8536-12E9-832A-A3076D6A4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715" y="1253599"/>
            <a:ext cx="8703269" cy="316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AB76-746A-029E-680B-04B7DB7A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B2929AD-1939-6BB5-6FA2-FDBFCE3B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CA" altLang="zh-CN" dirty="0">
                <a:cs typeface="Segoe UI Light" panose="020B0502040204020203" pitchFamily="34" charset="0"/>
              </a:rPr>
              <a:t>Model data comparison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3CFF44-B71D-3452-D6F0-4FBAE1947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49" y="1234435"/>
            <a:ext cx="5852172" cy="43891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A2883C-D351-E5C0-4A95-9EB62515E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421" y="1234434"/>
            <a:ext cx="5852172" cy="43891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62BE03F-7274-9BBD-D0E2-43046FA06E93}"/>
              </a:ext>
            </a:extLst>
          </p:cNvPr>
          <p:cNvSpPr txBox="1"/>
          <p:nvPr/>
        </p:nvSpPr>
        <p:spPr>
          <a:xfrm>
            <a:off x="1185302" y="5906338"/>
            <a:ext cx="10476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We can clearly find that the model is in an underfitting state when the learning rate is 0.0005.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284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7A2D-1223-A2DC-A004-636459AB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0E33B91-C8D1-ABFD-C261-40D3AA2D9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CA" altLang="zh-CN" dirty="0">
                <a:cs typeface="Segoe UI Light" panose="020B0502040204020203" pitchFamily="34" charset="0"/>
              </a:rPr>
              <a:t>Model data comparison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890563-E53C-2E50-5697-700B039AF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49" y="1234435"/>
            <a:ext cx="5852172" cy="438912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CDBCE52-2CF9-39F4-F193-4086D4C3A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421" y="1234433"/>
            <a:ext cx="5852172" cy="43891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89A541E-BA56-88F2-340F-39E022BBD122}"/>
              </a:ext>
            </a:extLst>
          </p:cNvPr>
          <p:cNvSpPr txBox="1"/>
          <p:nvPr/>
        </p:nvSpPr>
        <p:spPr>
          <a:xfrm>
            <a:off x="610896" y="5892688"/>
            <a:ext cx="1132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Since we have added many commands to prevent overfitting, such as dropout, even more rounds of training will not lead to overfitting.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544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FA22-669B-A240-6BD4-710ECE57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1156DF-C483-6950-DCDC-DF354AD3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Model data comparison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1715E4E-54DD-D4A9-041E-E3038C33B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56" y="1923339"/>
            <a:ext cx="4467225" cy="2819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798793F-EE5B-82D8-7B11-BB9B85730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139" y="1972169"/>
            <a:ext cx="4339914" cy="277057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D527C84-6825-7BDD-0722-510BC1C26BAC}"/>
              </a:ext>
            </a:extLst>
          </p:cNvPr>
          <p:cNvSpPr txBox="1"/>
          <p:nvPr/>
        </p:nvSpPr>
        <p:spPr>
          <a:xfrm>
            <a:off x="996356" y="5393276"/>
            <a:ext cx="4537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LR=0.0001 EPOCHS=20 DROPOUT=0.5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2F8C89-498F-A02A-42BC-738DA5769A83}"/>
              </a:ext>
            </a:extLst>
          </p:cNvPr>
          <p:cNvSpPr txBox="1"/>
          <p:nvPr/>
        </p:nvSpPr>
        <p:spPr>
          <a:xfrm>
            <a:off x="6728420" y="5382619"/>
            <a:ext cx="4398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LR=0.0005 EPOCHS=20 DROPOUT=0.6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748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A3A1-18E8-45D4-D660-751F48D48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AE0AC34-6D7D-DBD2-1177-C839F888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Model data comparison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0F8C1C5-F8D4-F721-8429-EDA46B2C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56" y="1923339"/>
            <a:ext cx="4467225" cy="2819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B5A2D70-4458-B732-1972-D0A560DCC02F}"/>
              </a:ext>
            </a:extLst>
          </p:cNvPr>
          <p:cNvSpPr txBox="1"/>
          <p:nvPr/>
        </p:nvSpPr>
        <p:spPr>
          <a:xfrm>
            <a:off x="996356" y="5393276"/>
            <a:ext cx="4537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LR=0.0001 EPOCHS=20 DROPOUT=0.5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75B417-5643-642D-F295-A27DA32A56A8}"/>
              </a:ext>
            </a:extLst>
          </p:cNvPr>
          <p:cNvSpPr txBox="1"/>
          <p:nvPr/>
        </p:nvSpPr>
        <p:spPr>
          <a:xfrm>
            <a:off x="6829000" y="5393276"/>
            <a:ext cx="4607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LR=0.0001 EPOCHS=30 DROPOUT=0.5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C60E78-121E-170A-6675-E3FD58640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316" y="1923339"/>
            <a:ext cx="440132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9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C224-DA60-D0CB-7894-938C34E83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AF270D-AFAD-8151-E82F-24262AD5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Code reference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AAC2B1-922C-C687-420C-5FD72EF49358}"/>
              </a:ext>
            </a:extLst>
          </p:cNvPr>
          <p:cNvSpPr txBox="1"/>
          <p:nvPr/>
        </p:nvSpPr>
        <p:spPr>
          <a:xfrm>
            <a:off x="7212841" y="2336392"/>
            <a:ext cx="4545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 order to implement the mask detection better and more intuitively, we introduced some codes from public data that we are not familiar with but are very helpful for real-time monitoring.</a:t>
            </a:r>
          </a:p>
          <a:p>
            <a:endParaRPr lang="en-US" altLang="zh-CN" dirty="0"/>
          </a:p>
          <a:p>
            <a:r>
              <a:rPr lang="en-US" altLang="zh-CN" dirty="0"/>
              <a:t>The part of the code that extracts faces greatly facilitates our real-time monitoring</a:t>
            </a:r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49381A-650E-6D37-4684-66DC70FC3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20" y="1322320"/>
            <a:ext cx="5955956" cy="50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8050-0196-9D98-EC31-E1A743FA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A0E56D-1A50-5335-ADD6-1F7C44A1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Model TEST Key Parameters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61C008-6045-EEB4-7911-D16D8D046698}"/>
              </a:ext>
            </a:extLst>
          </p:cNvPr>
          <p:cNvSpPr txBox="1"/>
          <p:nvPr/>
        </p:nvSpPr>
        <p:spPr>
          <a:xfrm>
            <a:off x="708775" y="1983802"/>
            <a:ext cx="104447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Data augmentation include:</a:t>
            </a:r>
          </a:p>
          <a:p>
            <a:endParaRPr lang="en-US" altLang="zh-CN" dirty="0"/>
          </a:p>
          <a:p>
            <a:r>
              <a:rPr lang="en-US" altLang="zh-CN" dirty="0" err="1"/>
              <a:t>rotation_range</a:t>
            </a:r>
            <a:r>
              <a:rPr lang="en-US" altLang="zh-CN" dirty="0"/>
              <a:t>=20: random rotation angle range is 20 degrees.</a:t>
            </a:r>
          </a:p>
          <a:p>
            <a:r>
              <a:rPr lang="en-US" altLang="zh-CN" dirty="0" err="1"/>
              <a:t>zoom_range</a:t>
            </a:r>
            <a:r>
              <a:rPr lang="en-US" altLang="zh-CN" dirty="0"/>
              <a:t>=0.15: random zoom range is 15%.</a:t>
            </a:r>
          </a:p>
          <a:p>
            <a:r>
              <a:rPr lang="en-US" altLang="zh-CN" dirty="0" err="1"/>
              <a:t>width_shift_range</a:t>
            </a:r>
            <a:r>
              <a:rPr lang="en-US" altLang="zh-CN" dirty="0"/>
              <a:t>=0.2 and </a:t>
            </a:r>
            <a:r>
              <a:rPr lang="en-US" altLang="zh-CN" dirty="0" err="1"/>
              <a:t>height_shift_range</a:t>
            </a:r>
            <a:r>
              <a:rPr lang="en-US" altLang="zh-CN" dirty="0"/>
              <a:t>=0.2: random horizontal and vertical translation of 20%.</a:t>
            </a:r>
          </a:p>
          <a:p>
            <a:r>
              <a:rPr lang="en-US" altLang="zh-CN" dirty="0" err="1"/>
              <a:t>shear_range</a:t>
            </a:r>
            <a:r>
              <a:rPr lang="en-US" altLang="zh-CN" dirty="0"/>
              <a:t>=0.15: shear strength is 15%.</a:t>
            </a:r>
          </a:p>
          <a:p>
            <a:r>
              <a:rPr lang="en-US" altLang="zh-CN" dirty="0" err="1"/>
              <a:t>horizontal_flip</a:t>
            </a:r>
            <a:r>
              <a:rPr lang="en-US" altLang="zh-CN" dirty="0"/>
              <a:t>=True: random horizontal flip of the image.</a:t>
            </a:r>
          </a:p>
          <a:p>
            <a:r>
              <a:rPr lang="en-US" altLang="zh-CN" dirty="0" err="1"/>
              <a:t>fill_mode</a:t>
            </a:r>
            <a:r>
              <a:rPr lang="en-US" altLang="zh-CN" dirty="0"/>
              <a:t>="nearest": fill mode, use the nearest pixels to fill the blank areas generated by rotation or translation.</a:t>
            </a:r>
          </a:p>
        </p:txBody>
      </p:sp>
    </p:spTree>
    <p:extLst>
      <p:ext uri="{BB962C8B-B14F-4D97-AF65-F5344CB8AC3E}">
        <p14:creationId xmlns:p14="http://schemas.microsoft.com/office/powerpoint/2010/main" val="282126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80D3-6C2B-CB60-21CC-F3F697B9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ED79320-9975-058E-7BCC-2FD92D65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Code reference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728DA6-E1A6-AD0A-765D-B49A7D44D60B}"/>
              </a:ext>
            </a:extLst>
          </p:cNvPr>
          <p:cNvSpPr txBox="1"/>
          <p:nvPr/>
        </p:nvSpPr>
        <p:spPr>
          <a:xfrm>
            <a:off x="722194" y="1977367"/>
            <a:ext cx="107476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Extract faces:</a:t>
            </a:r>
          </a:p>
          <a:p>
            <a:r>
              <a:rPr lang="en-US" altLang="zh-CN" dirty="0"/>
              <a:t>Use </a:t>
            </a:r>
            <a:r>
              <a:rPr lang="en-US" altLang="zh-CN" dirty="0">
                <a:solidFill>
                  <a:srgbClr val="C00000"/>
                </a:solidFill>
              </a:rPr>
              <a:t>OpenCV's cv2 </a:t>
            </a:r>
            <a:r>
              <a:rPr lang="en-US" altLang="zh-CN" dirty="0"/>
              <a:t>method to convert the image.</a:t>
            </a:r>
          </a:p>
          <a:p>
            <a:r>
              <a:rPr lang="en-US" altLang="zh-CN" dirty="0"/>
              <a:t>Use </a:t>
            </a:r>
            <a:r>
              <a:rPr lang="en-US" altLang="zh-CN" dirty="0" err="1">
                <a:solidFill>
                  <a:srgbClr val="FF0000"/>
                </a:solidFill>
              </a:rPr>
              <a:t>faceNet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to  extraction or recognition on images.</a:t>
            </a:r>
          </a:p>
          <a:p>
            <a:r>
              <a:rPr lang="en-US" altLang="zh-CN" dirty="0"/>
              <a:t>“</a:t>
            </a:r>
            <a:r>
              <a:rPr lang="en-US" altLang="zh-CN" dirty="0" err="1"/>
              <a:t>FaceNet</a:t>
            </a:r>
            <a:r>
              <a:rPr lang="en-US" altLang="zh-CN" dirty="0"/>
              <a:t> is a deep learning model for face recognition, verification, and clustering proposed by the Google research team in 2015.”</a:t>
            </a:r>
          </a:p>
          <a:p>
            <a:endParaRPr lang="en-US" altLang="zh-CN" dirty="0"/>
          </a:p>
          <a:p>
            <a:r>
              <a:rPr lang="en-US" altLang="zh-CN" sz="2400" dirty="0"/>
              <a:t>Filter low-confidence faces:</a:t>
            </a:r>
          </a:p>
          <a:p>
            <a:r>
              <a:rPr lang="en-US" altLang="zh-CN" dirty="0"/>
              <a:t>Test the detection results and select the detection boxes with confidence greater than 0.5.</a:t>
            </a:r>
          </a:p>
          <a:p>
            <a:endParaRPr lang="en-US" altLang="zh-CN" dirty="0"/>
          </a:p>
          <a:p>
            <a:r>
              <a:rPr lang="en-US" altLang="zh-CN" sz="2400" dirty="0"/>
              <a:t>Process face images:</a:t>
            </a:r>
          </a:p>
          <a:p>
            <a:r>
              <a:rPr lang="en-US" altLang="zh-CN" dirty="0"/>
              <a:t>The detected face area is cropped and resized to 224x224, converted to RGB channel order, and preprocessed into the format required by the model.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86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D08C-8699-483E-2F26-1260A8B8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10053E6-605B-997E-8518-088099D5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Conclusion</a:t>
            </a:r>
            <a:endParaRPr lang="zh-CN" altLang="en-US" dirty="0">
              <a:cs typeface="Segoe UI Light" panose="020B0502040204020203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82D734-B40E-AA7F-DC3C-B35C60581B2C}"/>
              </a:ext>
            </a:extLst>
          </p:cNvPr>
          <p:cNvSpPr txBox="1"/>
          <p:nvPr/>
        </p:nvSpPr>
        <p:spPr>
          <a:xfrm>
            <a:off x="705134" y="1446350"/>
            <a:ext cx="107817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Training of mask detection model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MobileNetV2</a:t>
            </a:r>
            <a:r>
              <a:rPr lang="en-US" altLang="zh-CN" dirty="0"/>
              <a:t> as the base model, which is a lightweight convolutional neural network (CNN).</a:t>
            </a:r>
          </a:p>
          <a:p>
            <a:r>
              <a:rPr lang="en-US" altLang="zh-CN" dirty="0"/>
              <a:t>Add a custom fully connected layer (FC layer) as output for classification.</a:t>
            </a:r>
          </a:p>
          <a:p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ImageDataGenerator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It is a class in </a:t>
            </a:r>
            <a:r>
              <a:rPr lang="en-US" altLang="zh-CN" dirty="0" err="1">
                <a:solidFill>
                  <a:srgbClr val="FF0000"/>
                </a:solidFill>
              </a:rPr>
              <a:t>Keras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for image data augmentation for data augmentation to improve the generalization ability of the model.</a:t>
            </a:r>
          </a:p>
          <a:p>
            <a:r>
              <a:rPr lang="en-US" altLang="zh-CN" dirty="0"/>
              <a:t>Compile the model with </a:t>
            </a:r>
            <a:r>
              <a:rPr lang="en-US" altLang="zh-CN" dirty="0">
                <a:solidFill>
                  <a:srgbClr val="FF0000"/>
                </a:solidFill>
              </a:rPr>
              <a:t>binary cross entropy</a:t>
            </a:r>
            <a:r>
              <a:rPr lang="en-US" altLang="zh-CN" dirty="0"/>
              <a:t> loss function and </a:t>
            </a:r>
            <a:r>
              <a:rPr lang="en-US" altLang="zh-CN" dirty="0">
                <a:solidFill>
                  <a:srgbClr val="FF0000"/>
                </a:solidFill>
              </a:rPr>
              <a:t>Adam</a:t>
            </a:r>
            <a:r>
              <a:rPr lang="en-US" altLang="zh-CN" dirty="0"/>
              <a:t> optimizer, and train the model with training data.</a:t>
            </a:r>
          </a:p>
          <a:p>
            <a:endParaRPr lang="en-US" altLang="zh-CN" dirty="0"/>
          </a:p>
          <a:p>
            <a:r>
              <a:rPr lang="en-US" altLang="zh-CN" dirty="0"/>
              <a:t>After training, evaluate the performance of the model on the test set, and output indicators such as precision, recall, and F1 score through classification report.</a:t>
            </a:r>
          </a:p>
          <a:p>
            <a:endParaRPr lang="en-US" altLang="zh-CN" dirty="0"/>
          </a:p>
          <a:p>
            <a:r>
              <a:rPr lang="en-US" altLang="zh-CN" dirty="0"/>
              <a:t>Mask detection application (code borrowed from public sources)</a:t>
            </a:r>
          </a:p>
          <a:p>
            <a:r>
              <a:rPr lang="en-US" altLang="zh-CN" dirty="0"/>
              <a:t>This is an application based on </a:t>
            </a:r>
            <a:r>
              <a:rPr lang="en-US" altLang="zh-CN" dirty="0" err="1">
                <a:solidFill>
                  <a:srgbClr val="FF0000"/>
                </a:solidFill>
              </a:rPr>
              <a:t>Tkinter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graphical interface, which uses </a:t>
            </a:r>
            <a:r>
              <a:rPr lang="en-US" altLang="zh-CN" dirty="0">
                <a:solidFill>
                  <a:srgbClr val="FF0000"/>
                </a:solidFill>
              </a:rPr>
              <a:t>OpenCV </a:t>
            </a:r>
            <a:r>
              <a:rPr lang="en-US" altLang="zh-CN" dirty="0"/>
              <a:t>and deep learning models to detect faces in camera video streams or static images and predict whether ware masks or not.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OpenCV</a:t>
            </a:r>
            <a:r>
              <a:rPr lang="en-US" altLang="zh-CN" dirty="0"/>
              <a:t> is a DNN module to load pre-trained face detection models for real-time detection of face positions in images.</a:t>
            </a:r>
          </a:p>
        </p:txBody>
      </p:sp>
    </p:spTree>
    <p:extLst>
      <p:ext uri="{BB962C8B-B14F-4D97-AF65-F5344CB8AC3E}">
        <p14:creationId xmlns:p14="http://schemas.microsoft.com/office/powerpoint/2010/main" val="17191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9D295-4DE6-E1A0-870E-DA7F30CA8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Interactive section 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F6E933D-1439-A64A-23F0-A2BF94AD1DB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808919" y="1753737"/>
            <a:ext cx="3978275" cy="3978275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3B87E00-58F5-E971-AC1A-142ED4B48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7" y="1753737"/>
            <a:ext cx="7724097" cy="397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89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247D4-61FF-E897-E5AE-47D2C2D7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Collaboration and Division of Work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52B69A-8ACA-904C-1CC6-638A472FF904}"/>
              </a:ext>
            </a:extLst>
          </p:cNvPr>
          <p:cNvSpPr txBox="1"/>
          <p:nvPr/>
        </p:nvSpPr>
        <p:spPr>
          <a:xfrm>
            <a:off x="631371" y="2574836"/>
            <a:ext cx="112340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CN" dirty="0" err="1"/>
              <a:t>Junzhe</a:t>
            </a:r>
            <a:r>
              <a:rPr lang="en-CA" altLang="zh-CN" dirty="0"/>
              <a:t> Ban: ppt </a:t>
            </a:r>
            <a:r>
              <a:rPr lang="en-CA" altLang="zh-CN" dirty="0" err="1"/>
              <a:t>prensentation</a:t>
            </a:r>
            <a:r>
              <a:rPr lang="en-CA" altLang="zh-CN" dirty="0"/>
              <a:t>  coding</a:t>
            </a:r>
          </a:p>
          <a:p>
            <a:endParaRPr lang="en-CA" altLang="zh-CN" dirty="0"/>
          </a:p>
          <a:p>
            <a:r>
              <a:rPr lang="en-CA" altLang="zh-CN" dirty="0" err="1"/>
              <a:t>Zhijie</a:t>
            </a:r>
            <a:r>
              <a:rPr lang="en-CA" altLang="zh-CN" dirty="0"/>
              <a:t> Shen: final report ppt production coding</a:t>
            </a:r>
          </a:p>
          <a:p>
            <a:endParaRPr lang="en-CA" altLang="zh-CN" dirty="0"/>
          </a:p>
          <a:p>
            <a:r>
              <a:rPr lang="en-CA" altLang="zh-CN" dirty="0" err="1"/>
              <a:t>Zhiyuan</a:t>
            </a:r>
            <a:r>
              <a:rPr lang="en-CA" altLang="zh-CN" dirty="0"/>
              <a:t> Sun: finish readme  train and test the model ppt production Data acquisition and processing</a:t>
            </a:r>
          </a:p>
          <a:p>
            <a:endParaRPr lang="en-CA" altLang="zh-CN" dirty="0"/>
          </a:p>
          <a:p>
            <a:r>
              <a:rPr lang="en-CA" altLang="zh-CN" dirty="0"/>
              <a:t>Junjun Hu: proposal ppt production Video recording of implementation results Building a website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2880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305F3-B7A6-ED76-2B29-6917B02D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CBC2C-7CF5-C27B-2395-ED880CECF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E9247A-68D3-33BC-0C9D-A44283873E64}"/>
              </a:ext>
            </a:extLst>
          </p:cNvPr>
          <p:cNvSpPr txBox="1"/>
          <p:nvPr/>
        </p:nvSpPr>
        <p:spPr>
          <a:xfrm>
            <a:off x="675976" y="1515470"/>
            <a:ext cx="11234057" cy="373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Leamsaard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J., </a:t>
            </a:r>
            <a:r>
              <a:rPr lang="en-US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Charoensook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S. N., &amp; </a:t>
            </a:r>
            <a:r>
              <a:rPr lang="en-US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Yammen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S. (2021, September). The automatic creation of literature abstracts | IBM Journals &amp; Magazine | IEEE Xplore. https://ieeexplore.ieee.org/abstract/document/5392672 </a:t>
            </a: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CA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Sandler, M., Howard, A., Zhu, M., </a:t>
            </a:r>
            <a:r>
              <a:rPr lang="en-CA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Zhmoginov</a:t>
            </a:r>
            <a:r>
              <a:rPr lang="en-CA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A., &amp; Chen, L. C. (2018). Mobilenetv2: Inverted residuals and linear bottlenecks. In </a:t>
            </a:r>
            <a:r>
              <a:rPr lang="en-CA" altLang="zh-CN" sz="1800" i="1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Proceedings of the IEEE conference on computer vision and pattern recognition</a:t>
            </a:r>
            <a:r>
              <a:rPr lang="en-CA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 (pp. 4510-4520).</a:t>
            </a: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CA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Ieamsaard</a:t>
            </a:r>
            <a:r>
              <a:rPr lang="en-CA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J., </a:t>
            </a:r>
            <a:r>
              <a:rPr lang="en-CA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Charoensook</a:t>
            </a:r>
            <a:r>
              <a:rPr lang="en-CA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S. N., &amp; </a:t>
            </a:r>
            <a:r>
              <a:rPr lang="en-CA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Yammen</a:t>
            </a:r>
            <a:r>
              <a:rPr lang="en-CA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S. (2021, March). Deep learning-based face mask detection using yolov5. In </a:t>
            </a:r>
            <a:r>
              <a:rPr lang="en-CA" altLang="zh-CN" sz="1800" i="1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2021 9th International Electrical Engineering Congress (</a:t>
            </a:r>
            <a:r>
              <a:rPr lang="en-CA" altLang="zh-CN" sz="1800" i="1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iEECON</a:t>
            </a:r>
            <a:r>
              <a:rPr lang="en-CA" altLang="zh-CN" sz="1800" i="1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CA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 (pp. 428-431). IEEE.</a:t>
            </a: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CA" altLang="zh-CN" sz="18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Das, A., Ansari, M. W., &amp; Basak, R. (2020, December). Covid-19 face mask detection using TensorFlow, </a:t>
            </a:r>
            <a:r>
              <a:rPr lang="en-CA" altLang="zh-CN" sz="18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Keras</a:t>
            </a:r>
            <a:r>
              <a:rPr lang="en-CA" altLang="zh-CN" sz="18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and OpenCV. In </a:t>
            </a:r>
            <a:r>
              <a:rPr lang="en-CA" altLang="zh-CN" sz="1800" i="1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2020 IEEE 17th India council international conference (INDICON)</a:t>
            </a:r>
            <a:r>
              <a:rPr lang="en-CA" altLang="zh-CN" sz="18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 (pp. 1-5). IEEE.</a:t>
            </a: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altLang="zh-CN" sz="18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Kathein, D., Hernandez, B., &amp; Medeiros, H. (2024). </a:t>
            </a:r>
            <a:r>
              <a:rPr lang="en-CA" altLang="zh-CN" sz="18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Multi-Camera Multi-Person Association using Transformer-Based Dense Pixel Correspondence Estimation and Detection-Based Masking. </a:t>
            </a:r>
            <a:r>
              <a:rPr lang="en-CA" altLang="zh-CN" sz="180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arXiv</a:t>
            </a:r>
            <a:r>
              <a:rPr lang="en-CA" altLang="zh-CN" sz="1800" i="1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preprint arXiv:2408.09295</a:t>
            </a:r>
            <a:r>
              <a:rPr lang="en-CA" altLang="zh-CN" sz="18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CA" altLang="zh-CN" dirty="0"/>
          </a:p>
        </p:txBody>
      </p:sp>
    </p:spTree>
    <p:extLst>
      <p:ext uri="{BB962C8B-B14F-4D97-AF65-F5344CB8AC3E}">
        <p14:creationId xmlns:p14="http://schemas.microsoft.com/office/powerpoint/2010/main" val="1748170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AB23-FB94-12D7-F16D-F4AD6344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7D492-C710-AFEB-9C22-0B65284F1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235200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ctr" rtl="0"/>
            <a:r>
              <a:rPr lang="en-US" altLang="zh-CN" sz="48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5514898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07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{B1DE2924-A5CF-4D4D-BF8C-652286D4A0A1}tf10001108_win32</Template>
  <TotalTime>486</TotalTime>
  <Words>1704</Words>
  <Application>Microsoft Office PowerPoint</Application>
  <PresentationFormat>宽屏</PresentationFormat>
  <Paragraphs>211</Paragraphs>
  <Slides>24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Microsoft YaHei UI</vt:lpstr>
      <vt:lpstr>Microsoft YaHei UI Light</vt:lpstr>
      <vt:lpstr>Arial</vt:lpstr>
      <vt:lpstr>Calibri</vt:lpstr>
      <vt:lpstr>Cambria Math</vt:lpstr>
      <vt:lpstr>Segoe UI</vt:lpstr>
      <vt:lpstr>Segoe UI Light</vt:lpstr>
      <vt:lpstr>自定义</vt:lpstr>
      <vt:lpstr>Face-Mask-Detection</vt:lpstr>
      <vt:lpstr>Catalog </vt:lpstr>
      <vt:lpstr>Introduction </vt:lpstr>
      <vt:lpstr>ENVIRONMENT </vt:lpstr>
      <vt:lpstr>DATASET</vt:lpstr>
      <vt:lpstr>DATA ANALYZE</vt:lpstr>
      <vt:lpstr>Model Training</vt:lpstr>
      <vt:lpstr>What is MobileNetV2 ？</vt:lpstr>
      <vt:lpstr>What is MobileNetV2 ？</vt:lpstr>
      <vt:lpstr>What is MobileNetV2 ？</vt:lpstr>
      <vt:lpstr>What is MobileNetV2 ？</vt:lpstr>
      <vt:lpstr>Model TEST</vt:lpstr>
      <vt:lpstr>Model data comparison</vt:lpstr>
      <vt:lpstr>Model data comparison</vt:lpstr>
      <vt:lpstr>Model data comparison</vt:lpstr>
      <vt:lpstr>Model data comparison</vt:lpstr>
      <vt:lpstr>Code reference</vt:lpstr>
      <vt:lpstr>Model TEST Key Parameters</vt:lpstr>
      <vt:lpstr>Code reference</vt:lpstr>
      <vt:lpstr>Conclusion</vt:lpstr>
      <vt:lpstr>Interactive section </vt:lpstr>
      <vt:lpstr>Collaboration and Division of Work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remy banner</dc:creator>
  <cp:keywords/>
  <cp:lastModifiedBy>Junjun HU</cp:lastModifiedBy>
  <cp:revision>17</cp:revision>
  <dcterms:created xsi:type="dcterms:W3CDTF">2024-11-08T20:32:12Z</dcterms:created>
  <dcterms:modified xsi:type="dcterms:W3CDTF">2024-11-15T05:41:22Z</dcterms:modified>
  <cp:version/>
</cp:coreProperties>
</file>